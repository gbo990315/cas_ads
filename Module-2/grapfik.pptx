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58"/>
  </p:normalViewPr>
  <p:slideViewPr>
    <p:cSldViewPr snapToGrid="0">
      <p:cViewPr varScale="1">
        <p:scale>
          <a:sx n="65" d="100"/>
          <a:sy n="65" d="100"/>
        </p:scale>
        <p:origin x="208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05F0D-782C-5CA7-935F-383A853B4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02ED2-B8E0-F9ED-8D15-7FC2482E1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0D761-7B31-F980-5C16-B82AD11F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EA4AB-FBC1-8525-3D76-29BFE291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B7114-E338-E59F-53D2-311ADDC7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1005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A2D0-D6F3-F8E8-812A-4479C4E9B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78E26-7BAA-8612-395F-74725B5E6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6DC7C-7F3F-3174-65C1-C90A7CB5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56088-9442-A4E5-BB7E-ACF9C7E7A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14EB1-A31B-5E78-C127-C54D28B2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9207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D80B-520B-2E8A-FE41-504E0663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C7EE6-88B4-C8C1-F1ED-54297B205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8A799-1083-7FD0-D3EA-3D3B0059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943FD-51F4-8A74-8E8A-C82F439E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CEF1E-08DF-ABFC-5E5B-0431DD7B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2546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7392-E3CF-2BA8-FA28-7340826AD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808B0-D327-0629-E80F-C0C863FA8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7F257-FC81-187F-B94E-E3FBE67F4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D4ABB-3178-2E93-4248-D40484F01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CB759-C4BE-4958-68E3-297BE6D3E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991AD-83EC-9AB5-5B51-063BC049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15680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FF3-0E99-5766-478B-5F2FE0CE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DAF2B-5E14-9374-C180-F19962A73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580FE-0AE3-1463-81A9-AF86E810A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758D6-3C3D-FEFC-1C2C-A3989660F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676BD-8C03-7CEE-AB74-72D5253EA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E1843-0114-F326-7905-EA11ADC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0C13C-AD97-EE94-F795-B2DB2A15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508DE-0B1E-5FF9-165E-81CB4820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464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F25F-3468-DBAD-FEA5-F5CF4043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880C8-67AA-7F3E-21B9-174504CA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C9B47-E5BC-62E1-8B41-1B7BF2BA5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3D0F7-5AB0-3A4C-8A34-7FD97742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144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A9F88-9407-30B8-88EA-7BBF0D70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44665B-832F-727A-12F1-96341F6D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F3BF0-8F4C-87E7-9986-C5E6C6ED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6268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76BB-F970-2543-B30D-716E16811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1B956-E2D7-D586-9CCA-99F1882EC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14931-3F98-ADF0-AD6C-155B1C1C1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C3DB2-5191-E8A9-BC44-CA55E41A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D6E4E-BBE8-E003-BA79-BAB4C1B7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7382E-1F00-1258-5FDA-2D335B12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0530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299B-3BB8-6A3F-722F-D5382980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803EE-3D63-30E3-E92D-C85EE52F6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9C195-4176-0993-7B3B-42C6B98FE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9A56B-B44F-E607-3C9A-251596D0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9D983-EC87-9E29-DEFC-6F647F54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DCE8C-D11C-B285-B0AA-7CD17856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25751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7D9B-E3E3-94D5-A855-0570B9D9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EDAF8-11D0-6280-4894-8609772F6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74B09-A40B-D6F8-0826-5DD13FC0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20492-A735-DE5A-41B7-7DBCE528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3C81C-1085-4CBA-1291-22E1F9FB9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9258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C2CA6-8862-571F-8057-C0A536DE5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E3D24-1CD8-6D2E-C959-57697B2EF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3985F-944F-3A5A-145B-D29FF030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45949-E1C1-D4E4-B236-BB735694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67247-2F20-D0C6-1867-7D3A583E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3456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7A3EC0-7C52-C26F-C997-5DFC7900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B92D5-83CB-FDE8-ABF8-AFBC49163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D5B82-DF3F-CF1D-402B-59C8D05E5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0934C-DB4A-C146-8BFA-F3AE8A33FF89}" type="datetimeFigureOut">
              <a:rPr lang="en-CH" smtClean="0"/>
              <a:t>04.10.2025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EC4DA-D156-D677-C946-1565014AE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61C2F-E58C-C5FD-294A-620CC8A8F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E133C-BF51-DA40-9C69-6C8248AEB37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854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9E6F66C-4432-71E5-6FCE-4B880AD3EEFF}"/>
              </a:ext>
            </a:extLst>
          </p:cNvPr>
          <p:cNvSpPr/>
          <p:nvPr/>
        </p:nvSpPr>
        <p:spPr>
          <a:xfrm>
            <a:off x="171771" y="130629"/>
            <a:ext cx="10224086" cy="662740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2AEACA-E1C9-B6C2-89F6-517E1EFB6925}"/>
              </a:ext>
            </a:extLst>
          </p:cNvPr>
          <p:cNvSpPr/>
          <p:nvPr/>
        </p:nvSpPr>
        <p:spPr>
          <a:xfrm>
            <a:off x="5540829" y="457200"/>
            <a:ext cx="4593771" cy="6128657"/>
          </a:xfrm>
          <a:prstGeom prst="rect">
            <a:avLst/>
          </a:prstGeom>
          <a:solidFill>
            <a:schemeClr val="bg2">
              <a:alpha val="9917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2AA207-572B-F25A-50A3-7F0C5C5EE2EE}"/>
              </a:ext>
            </a:extLst>
          </p:cNvPr>
          <p:cNvSpPr txBox="1"/>
          <p:nvPr/>
        </p:nvSpPr>
        <p:spPr>
          <a:xfrm>
            <a:off x="5540829" y="499297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i="1">
                <a:solidFill>
                  <a:srgbClr val="FF0000"/>
                </a:solidFill>
              </a:rPr>
              <a:t>Machine Learning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98ABE0-5E40-D8F5-FDAB-BAC176C16E0B}"/>
              </a:ext>
            </a:extLst>
          </p:cNvPr>
          <p:cNvSpPr/>
          <p:nvPr/>
        </p:nvSpPr>
        <p:spPr>
          <a:xfrm>
            <a:off x="435429" y="457200"/>
            <a:ext cx="4593771" cy="6128657"/>
          </a:xfrm>
          <a:prstGeom prst="rect">
            <a:avLst/>
          </a:prstGeom>
          <a:solidFill>
            <a:schemeClr val="bg2">
              <a:alpha val="9917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D53FA0-A3A8-ED6E-2CB0-381DD2130E26}"/>
              </a:ext>
            </a:extLst>
          </p:cNvPr>
          <p:cNvSpPr/>
          <p:nvPr/>
        </p:nvSpPr>
        <p:spPr>
          <a:xfrm>
            <a:off x="805542" y="990182"/>
            <a:ext cx="396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b="1"/>
              <a:t>Data Ingestion – </a:t>
            </a:r>
            <a:r>
              <a:rPr lang="en-CH" sz="1400" b="1">
                <a:solidFill>
                  <a:schemeClr val="accent2">
                    <a:lumMod val="75000"/>
                  </a:schemeClr>
                </a:solidFill>
              </a:rPr>
              <a:t>Bronze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Bring </a:t>
            </a:r>
            <a:r>
              <a:rPr lang="en-CH" sz="1200"/>
              <a:t>files to warehouse on lake in raw format (.csv, .txt)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sz="1200"/>
              <a:t>Ingest data Data to databricks delta tables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3F6A38-8D15-CEA1-2FAF-8D2E647302A0}"/>
              </a:ext>
            </a:extLst>
          </p:cNvPr>
          <p:cNvSpPr/>
          <p:nvPr/>
        </p:nvSpPr>
        <p:spPr>
          <a:xfrm>
            <a:off x="805542" y="2921067"/>
            <a:ext cx="396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b="1"/>
              <a:t>Data Transformation – </a:t>
            </a:r>
            <a:r>
              <a:rPr lang="en-CH" sz="1400" b="1">
                <a:solidFill>
                  <a:schemeClr val="bg2">
                    <a:lumMod val="75000"/>
                  </a:schemeClr>
                </a:solidFill>
              </a:rPr>
              <a:t>Silver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200" dirty="0"/>
              <a:t>Apply data cleaning / encoding and bring data into processable format</a:t>
            </a:r>
            <a:endParaRPr lang="en-CH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sz="1200"/>
              <a:t>Remove unnecesary / wrong observations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H"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60D08F-137C-5032-3BB9-4E1C80CF4C69}"/>
              </a:ext>
            </a:extLst>
          </p:cNvPr>
          <p:cNvSpPr/>
          <p:nvPr/>
        </p:nvSpPr>
        <p:spPr>
          <a:xfrm>
            <a:off x="805542" y="4851952"/>
            <a:ext cx="396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b="1" dirty="0"/>
              <a:t>Data Aggregation – </a:t>
            </a:r>
            <a:r>
              <a:rPr lang="en-CH" sz="1400" b="1" dirty="0">
                <a:solidFill>
                  <a:srgbClr val="FFC000"/>
                </a:solidFill>
              </a:rPr>
              <a:t>Gold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200" dirty="0"/>
              <a:t>Adjust geographical coding on a yearly basis for municipality data (municipality fusion / split, code adjustment)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200" dirty="0"/>
              <a:t>Generate code name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200" dirty="0"/>
              <a:t>Track table meta data </a:t>
            </a:r>
            <a:endParaRPr lang="en-CH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H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9518B3-41E5-C08B-A1B8-FB12694B36D0}"/>
              </a:ext>
            </a:extLst>
          </p:cNvPr>
          <p:cNvSpPr/>
          <p:nvPr/>
        </p:nvSpPr>
        <p:spPr>
          <a:xfrm>
            <a:off x="5943598" y="990182"/>
            <a:ext cx="396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b="1" dirty="0"/>
              <a:t>Feature Engineering – </a:t>
            </a:r>
            <a:r>
              <a:rPr lang="en-CH" sz="1400" b="1" dirty="0">
                <a:solidFill>
                  <a:srgbClr val="FFC000"/>
                </a:solidFill>
              </a:rPr>
              <a:t>Gold Layer</a:t>
            </a:r>
            <a:endParaRPr lang="en-CH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200" dirty="0"/>
              <a:t>Generate Databricks Feature Table from gold layer for modeling purposes</a:t>
            </a:r>
            <a:endParaRPr lang="en-CH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H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6DF1C3-1C24-1F82-C5A6-7C26451319BC}"/>
              </a:ext>
            </a:extLst>
          </p:cNvPr>
          <p:cNvSpPr/>
          <p:nvPr/>
        </p:nvSpPr>
        <p:spPr>
          <a:xfrm>
            <a:off x="5943598" y="2921067"/>
            <a:ext cx="396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b="1" dirty="0"/>
              <a:t>Model Design – </a:t>
            </a:r>
            <a:r>
              <a:rPr lang="en-CH" sz="1400" b="1" dirty="0">
                <a:solidFill>
                  <a:srgbClr val="FFC000"/>
                </a:solidFill>
              </a:rPr>
              <a:t>Gold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200" dirty="0"/>
              <a:t>Fit regression models and track / versionize them applying MLFlow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200" dirty="0"/>
              <a:t>Write Model output / estimations of building stock in m2 and m3 and materialize them for other users</a:t>
            </a:r>
            <a:endParaRPr lang="en-CH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H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3B15B-466D-1ED3-367F-313275E2E6D9}"/>
              </a:ext>
            </a:extLst>
          </p:cNvPr>
          <p:cNvSpPr/>
          <p:nvPr/>
        </p:nvSpPr>
        <p:spPr>
          <a:xfrm>
            <a:off x="5943598" y="4851952"/>
            <a:ext cx="396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b="1" dirty="0"/>
              <a:t>Model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200" dirty="0"/>
              <a:t>Monitor modeling results via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200" dirty="0"/>
              <a:t>Recalibrate process if necessary </a:t>
            </a:r>
            <a:endParaRPr lang="en-CH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H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A99603-F55E-B201-4A3D-2793C7D4A787}"/>
              </a:ext>
            </a:extLst>
          </p:cNvPr>
          <p:cNvCxnSpPr>
            <a:endCxn id="7" idx="0"/>
          </p:cNvCxnSpPr>
          <p:nvPr/>
        </p:nvCxnSpPr>
        <p:spPr>
          <a:xfrm>
            <a:off x="2785542" y="2476495"/>
            <a:ext cx="0" cy="444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73E518-6345-7314-F5DF-B37FA7574555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2785542" y="4361067"/>
            <a:ext cx="0" cy="490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40719C-14E7-2755-A04E-493CD846D93B}"/>
              </a:ext>
            </a:extLst>
          </p:cNvPr>
          <p:cNvSpPr txBox="1"/>
          <p:nvPr/>
        </p:nvSpPr>
        <p:spPr>
          <a:xfrm>
            <a:off x="435429" y="499297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i="1">
                <a:solidFill>
                  <a:srgbClr val="FF0000"/>
                </a:solidFill>
              </a:rPr>
              <a:t>Data Engineering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C8547C58-989E-24B7-0314-06C55DC29098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765542" y="1710182"/>
            <a:ext cx="1178056" cy="38617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0AAA4C7-FC8D-7631-47C9-D5A1836840B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923598" y="2430182"/>
            <a:ext cx="0" cy="490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5B30BB-A30C-55A4-71E6-C7D989FEC577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7923598" y="4361067"/>
            <a:ext cx="0" cy="490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F1AF7BF-FBED-D887-0EBB-A44484A06AA4}"/>
              </a:ext>
            </a:extLst>
          </p:cNvPr>
          <p:cNvSpPr txBox="1"/>
          <p:nvPr/>
        </p:nvSpPr>
        <p:spPr>
          <a:xfrm>
            <a:off x="171770" y="99966"/>
            <a:ext cx="2908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i="1">
                <a:solidFill>
                  <a:srgbClr val="FF0000"/>
                </a:solidFill>
              </a:rPr>
              <a:t>Cloud Based Data Warehouse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758DDACF-2BA1-4289-9DBD-832B778E6BFE}"/>
              </a:ext>
            </a:extLst>
          </p:cNvPr>
          <p:cNvCxnSpPr>
            <a:stCxn id="12" idx="1"/>
            <a:endCxn id="7" idx="3"/>
          </p:cNvCxnSpPr>
          <p:nvPr/>
        </p:nvCxnSpPr>
        <p:spPr>
          <a:xfrm rot="10800000">
            <a:off x="4765542" y="3641068"/>
            <a:ext cx="1178056" cy="1930885"/>
          </a:xfrm>
          <a:prstGeom prst="bentConnector3">
            <a:avLst>
              <a:gd name="adj1" fmla="val 204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594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147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Böhme</dc:creator>
  <cp:lastModifiedBy>Gilbert Böhme</cp:lastModifiedBy>
  <cp:revision>5</cp:revision>
  <dcterms:created xsi:type="dcterms:W3CDTF">2025-10-04T10:57:06Z</dcterms:created>
  <dcterms:modified xsi:type="dcterms:W3CDTF">2025-10-04T11:37:46Z</dcterms:modified>
</cp:coreProperties>
</file>